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"/>
      <p:regular r:id="rId17"/>
      <p:bold r:id="rId18"/>
      <p:italic r:id="rId19"/>
      <p:boldItalic r:id="rId20"/>
    </p:embeddedFont>
    <p:embeddedFont>
      <p:font typeface="Fira Code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6.xml"/><Relationship Id="rId22" Type="http://schemas.openxmlformats.org/officeDocument/2006/relationships/font" Target="fonts/FiraCode-bold.fntdata"/><Relationship Id="rId10" Type="http://schemas.openxmlformats.org/officeDocument/2006/relationships/slide" Target="slides/slide5.xml"/><Relationship Id="rId21" Type="http://schemas.openxmlformats.org/officeDocument/2006/relationships/font" Target="fonts/FiraCod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italic.fntdata"/><Relationship Id="rId6" Type="http://schemas.openxmlformats.org/officeDocument/2006/relationships/slide" Target="slides/slide1.xml"/><Relationship Id="rId18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1253579"/>
            <a:ext cx="952500" cy="95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511864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609600" y="1806029"/>
            <a:ext cx="9101137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Introduction to R Programming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3680370"/>
            <a:ext cx="67627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Mastering syntax, control flow, loops, and custom functions.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257300" y="5090070"/>
            <a:ext cx="22264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Levis Kitonge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257300" y="5375825"/>
            <a:ext cx="363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MSc. Engineering Artificial Intelligence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664517" y="1802159"/>
            <a:ext cx="3468588" cy="2045940"/>
          </a:xfrm>
          <a:prstGeom prst="roundRect">
            <a:avLst>
              <a:gd fmla="val 744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4361705" y="1802159"/>
            <a:ext cx="3468588" cy="2045940"/>
          </a:xfrm>
          <a:prstGeom prst="roundRect">
            <a:avLst>
              <a:gd fmla="val 744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8058894" y="1802159"/>
            <a:ext cx="3468588" cy="2045940"/>
          </a:xfrm>
          <a:prstGeom prst="roundRect">
            <a:avLst>
              <a:gd fmla="val 744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2513111" y="4076700"/>
            <a:ext cx="3468588" cy="2045940"/>
          </a:xfrm>
          <a:prstGeom prst="roundRect">
            <a:avLst>
              <a:gd fmla="val 744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6210300" y="4076700"/>
            <a:ext cx="3468588" cy="2045940"/>
          </a:xfrm>
          <a:prstGeom prst="roundRect">
            <a:avLst>
              <a:gd fmla="val 744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4499" y="2116484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1687" y="2116484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78875" y="2116484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09280" y="43910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06469" y="43910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ECOSYSTEM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09600" y="762000"/>
            <a:ext cx="1158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Why Choose R?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35102" y="2687984"/>
            <a:ext cx="3727418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Analysis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23850" y="3076575"/>
            <a:ext cx="35499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Powerful statistical techniques, clustering, and data reduction.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232290" y="2687984"/>
            <a:ext cx="3727418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Vast Packages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321038" y="3076575"/>
            <a:ext cx="35499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Thousands of open-source libraries for diverse problem-solving.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929478" y="2687984"/>
            <a:ext cx="3727418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Visualization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018226" y="3076575"/>
            <a:ext cx="35499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Easy generation of scatter plots, box plots, and histograms.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2383696" y="4962525"/>
            <a:ext cx="3727418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Platform Independent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2472444" y="5351115"/>
            <a:ext cx="35499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Runs seamlessly across Windows, macOS, and Linux environments.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080884" y="4962525"/>
            <a:ext cx="3727418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Community Support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169632" y="5351115"/>
            <a:ext cx="35499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Large, active community driving the hottest tech trends.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6408" y="1524000"/>
            <a:ext cx="5785991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01150" y="1533525"/>
            <a:ext cx="5871725" cy="485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251460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323850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396240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4686300"/>
            <a:ext cx="1143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ENVIRONMENT SETUP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09600" y="762000"/>
            <a:ext cx="1158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RStudio Interface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14400" y="2514600"/>
            <a:ext cx="459625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Source/Scripts: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Write and save reusable R code files.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14400" y="3238500"/>
            <a:ext cx="459625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Console: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Execute code immediately and view standard output.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14400" y="3962400"/>
            <a:ext cx="459625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Environment: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Track loaded variables, data frames, and functions.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14400" y="4686300"/>
            <a:ext cx="459625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Files/Plots/Packages: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Manage directories, view charts, and install libraries.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/>
          <p:nvPr/>
        </p:nvSpPr>
        <p:spPr>
          <a:xfrm>
            <a:off x="609600" y="2688877"/>
            <a:ext cx="2571750" cy="2546895"/>
          </a:xfrm>
          <a:prstGeom prst="roundRect">
            <a:avLst>
              <a:gd fmla="val 598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3409950" y="2688877"/>
            <a:ext cx="2571750" cy="2546895"/>
          </a:xfrm>
          <a:prstGeom prst="roundRect">
            <a:avLst>
              <a:gd fmla="val 598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6210300" y="2688877"/>
            <a:ext cx="2571750" cy="2546895"/>
          </a:xfrm>
          <a:prstGeom prst="roundRect">
            <a:avLst>
              <a:gd fmla="val 598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9010650" y="2688877"/>
            <a:ext cx="2571750" cy="2546895"/>
          </a:xfrm>
          <a:prstGeom prst="roundRect">
            <a:avLst>
              <a:gd fmla="val 598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923925" y="4016573"/>
            <a:ext cx="1943100" cy="904875"/>
          </a:xfrm>
          <a:prstGeom prst="roundRect">
            <a:avLst>
              <a:gd fmla="val 6315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923925" y="4016573"/>
            <a:ext cx="38100" cy="9048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3724275" y="4016573"/>
            <a:ext cx="1943100" cy="904875"/>
          </a:xfrm>
          <a:prstGeom prst="roundRect">
            <a:avLst>
              <a:gd fmla="val 6315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3724275" y="4016573"/>
            <a:ext cx="38100" cy="9048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6524625" y="4016573"/>
            <a:ext cx="1943100" cy="904875"/>
          </a:xfrm>
          <a:prstGeom prst="roundRect">
            <a:avLst>
              <a:gd fmla="val 6315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6524625" y="4016573"/>
            <a:ext cx="38100" cy="9048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9324975" y="4216598"/>
            <a:ext cx="1943100" cy="704850"/>
          </a:xfrm>
          <a:prstGeom prst="roundRect">
            <a:avLst>
              <a:gd fmla="val 8108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9324975" y="4216598"/>
            <a:ext cx="38100" cy="7048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FUNDAMENTALS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09600" y="762000"/>
            <a:ext cx="1158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Core Data Types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1076325" y="4168973"/>
            <a:ext cx="17335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10.5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55.0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787.1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3876675" y="4168973"/>
            <a:ext cx="17335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1L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55L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100L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677025" y="4168973"/>
            <a:ext cx="17335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"Hello"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"FALSE"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"11.5"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9477375" y="4368998"/>
            <a:ext cx="1733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TRUE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FALSE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923925" y="3003202"/>
            <a:ext cx="25503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Numeric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23925" y="3330773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Decimal values.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3724275" y="3003202"/>
            <a:ext cx="25503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Integer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3724275" y="3330773"/>
            <a:ext cx="2038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Whole numbers (Requires 'L').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524625" y="3003202"/>
            <a:ext cx="25503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Character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524625" y="3330773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Strings and text.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9324975" y="3003202"/>
            <a:ext cx="25503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Logical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9324975" y="3330773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Boolean evaluations.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/>
          <p:nvPr/>
        </p:nvSpPr>
        <p:spPr>
          <a:xfrm>
            <a:off x="609600" y="1524000"/>
            <a:ext cx="5143500" cy="495300"/>
          </a:xfrm>
          <a:prstGeom prst="roundRect">
            <a:avLst>
              <a:gd fmla="val 15384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609600" y="2019300"/>
            <a:ext cx="5143500" cy="438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6057900" y="1524000"/>
            <a:ext cx="5524500" cy="495300"/>
          </a:xfrm>
          <a:prstGeom prst="roundRect">
            <a:avLst>
              <a:gd fmla="val 15384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6057900" y="2019300"/>
            <a:ext cx="5524500" cy="438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609600" y="6391275"/>
            <a:ext cx="5143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609600" y="2019300"/>
            <a:ext cx="9525" cy="4381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5743575" y="2019300"/>
            <a:ext cx="9525" cy="4381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923925" y="3124200"/>
            <a:ext cx="4514850" cy="1371600"/>
          </a:xfrm>
          <a:prstGeom prst="roundRect">
            <a:avLst>
              <a:gd fmla="val 4166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923925" y="3124200"/>
            <a:ext cx="38100" cy="1371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6057900" y="6391275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6057900" y="2019300"/>
            <a:ext cx="9525" cy="4381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11572875" y="2019300"/>
            <a:ext cx="9525" cy="4381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6372225" y="3124200"/>
            <a:ext cx="4895850" cy="1371600"/>
          </a:xfrm>
          <a:prstGeom prst="roundRect">
            <a:avLst>
              <a:gd fmla="val 4166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6372225" y="3124200"/>
            <a:ext cx="38100" cy="1371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495675" y="2362200"/>
            <a:ext cx="209550" cy="228600"/>
          </a:xfrm>
          <a:prstGeom prst="roundRect">
            <a:avLst>
              <a:gd fmla="val 27272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1" name="Google Shape;1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54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69545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SYNTAX RULES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09600" y="762000"/>
            <a:ext cx="1158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Variable Assignment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838200" y="1676400"/>
            <a:ext cx="4781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Legal Names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6286500" y="1676400"/>
            <a:ext cx="5162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Illegal Names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923925" y="2324100"/>
            <a:ext cx="4610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Values are stored using the assignment operator.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1152525" y="3352800"/>
            <a:ext cx="4152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myvar &lt;- "John" my_var &lt;- "John" MYVAR &lt;- "John" .myvar &lt;- "John"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6372225" y="2324100"/>
            <a:ext cx="4991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Cannot start with numbers, contain hyphens, or use reserved words.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6600825" y="3352800"/>
            <a:ext cx="453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2myvar &lt;- "John" # Starts with number my-var &lt;- "John" # Contains hyphen _my_var &lt;- "John" # Starts with underscore TRUE &lt;- "John" # Reserved word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3495675" y="2362200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&lt;-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/>
          <p:nvPr/>
        </p:nvSpPr>
        <p:spPr>
          <a:xfrm>
            <a:off x="609600" y="1524000"/>
            <a:ext cx="3505200" cy="4876800"/>
          </a:xfrm>
          <a:prstGeom prst="roundRect">
            <a:avLst>
              <a:gd fmla="val 43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4343400" y="1524000"/>
            <a:ext cx="3505200" cy="4876800"/>
          </a:xfrm>
          <a:prstGeom prst="roundRect">
            <a:avLst>
              <a:gd fmla="val 43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8077200" y="1524000"/>
            <a:ext cx="3505200" cy="4876800"/>
          </a:xfrm>
          <a:prstGeom prst="roundRect">
            <a:avLst>
              <a:gd fmla="val 43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923925" y="2800350"/>
            <a:ext cx="2876550" cy="1571625"/>
          </a:xfrm>
          <a:prstGeom prst="roundRect">
            <a:avLst>
              <a:gd fmla="val 3636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923925" y="2800350"/>
            <a:ext cx="38100" cy="1571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4657725" y="2800350"/>
            <a:ext cx="2876550" cy="1209675"/>
          </a:xfrm>
          <a:prstGeom prst="roundRect">
            <a:avLst>
              <a:gd fmla="val 4724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4657725" y="2800350"/>
            <a:ext cx="38100" cy="12096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8391525" y="2800350"/>
            <a:ext cx="2876550" cy="1209675"/>
          </a:xfrm>
          <a:prstGeom prst="roundRect">
            <a:avLst>
              <a:gd fmla="val 4724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8391525" y="2800350"/>
            <a:ext cx="38100" cy="12096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LOGIC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609600" y="762000"/>
            <a:ext cx="1158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Control Flow: If Statements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923925" y="1838325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Standard if/else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923925" y="2219325"/>
            <a:ext cx="29718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Direct code execution paths using logical tests and relational operators.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1076325" y="2952750"/>
            <a:ext cx="2667000" cy="126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if (b &gt; a) { print("b is greater") } else if (a == b) { print("Equal") } else { print("a is greater") }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4657725" y="1838325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Logical AND (&amp;)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4657725" y="2219325"/>
            <a:ext cx="29718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Both conditional statements must be evaluated as true.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4810125" y="2952750"/>
            <a:ext cx="26670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if (a &gt; b &amp; c &gt; a) { print("Both are true") }else{ print("Not true") }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8391525" y="1838325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Logical OR (|)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8391525" y="2219325"/>
            <a:ext cx="29718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At least one conditional statement must be evaluated as true.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8543925" y="2952750"/>
            <a:ext cx="26670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if (a &gt; b | a &gt; c) { print("At least one true") }else{ print("False") }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/>
          <p:nvPr/>
        </p:nvSpPr>
        <p:spPr>
          <a:xfrm>
            <a:off x="609600" y="1524000"/>
            <a:ext cx="5334000" cy="4876800"/>
          </a:xfrm>
          <a:prstGeom prst="roundRect">
            <a:avLst>
              <a:gd fmla="val 312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6248400" y="1524000"/>
            <a:ext cx="5334000" cy="4876800"/>
          </a:xfrm>
          <a:prstGeom prst="roundRect">
            <a:avLst>
              <a:gd fmla="val 312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923925" y="3007965"/>
            <a:ext cx="4705350" cy="1600200"/>
          </a:xfrm>
          <a:prstGeom prst="roundRect">
            <a:avLst>
              <a:gd fmla="val 3571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923925" y="3007965"/>
            <a:ext cx="38100" cy="1600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6562725" y="3007965"/>
            <a:ext cx="4705350" cy="2362200"/>
          </a:xfrm>
          <a:prstGeom prst="roundRect">
            <a:avLst>
              <a:gd fmla="val 2419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6562725" y="3007965"/>
            <a:ext cx="38100" cy="2362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6" name="Google Shape;2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483676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5560665"/>
            <a:ext cx="1143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9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ITERATION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609600" y="762000"/>
            <a:ext cx="1158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Loops: While &amp; For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923925" y="1838325"/>
            <a:ext cx="617577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While Loops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923925" y="2265015"/>
            <a:ext cx="4800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Execute a block of code continuously as long as a specified condition remains TRUE.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1152525" y="3236565"/>
            <a:ext cx="434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# Basic while loop with increment i &lt;- 1 while (i &lt;= 6) { print(i) i = i + 1 }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6562725" y="1838325"/>
            <a:ext cx="5629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Iterating with For Loops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6562725" y="2265015"/>
            <a:ext cx="4800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predefined indexing variable required. Iterate sequentially over sets.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6791325" y="3236565"/>
            <a:ext cx="4343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# Numeric Ranges for (x in 1:10) { print(x) } # List Items fruits &lt;- list("apple", "banana") for (x in fruits) { print(x) }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6562725" y="5522565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Supports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Nested Loops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run loops inside loops for complex combinations.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1228725" y="4836765"/>
            <a:ext cx="4495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break: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Immediately terminates the entire loop cycle.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1228725" y="5560665"/>
            <a:ext cx="55768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next: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Skips the current iteration and advances.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"/>
          <p:cNvSpPr/>
          <p:nvPr/>
        </p:nvSpPr>
        <p:spPr>
          <a:xfrm>
            <a:off x="609600" y="1524000"/>
            <a:ext cx="5648325" cy="4876800"/>
          </a:xfrm>
          <a:prstGeom prst="roundRect">
            <a:avLst>
              <a:gd fmla="val 312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923925" y="2950815"/>
            <a:ext cx="5019675" cy="2990850"/>
          </a:xfrm>
          <a:prstGeom prst="roundRect">
            <a:avLst>
              <a:gd fmla="val 191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923925" y="2950815"/>
            <a:ext cx="38100" cy="29908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6562725" y="1524000"/>
            <a:ext cx="5019675" cy="2324100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6562725" y="4076700"/>
            <a:ext cx="5019675" cy="2324100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6800850" y="4820542"/>
            <a:ext cx="314325" cy="228600"/>
          </a:xfrm>
          <a:prstGeom prst="roundRect">
            <a:avLst>
              <a:gd fmla="val 25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MODULARITY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09600" y="762000"/>
            <a:ext cx="1158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Defining Functions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923925" y="1838325"/>
            <a:ext cx="658832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Code Reusability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923925" y="2265015"/>
            <a:ext cx="51149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Reusable code blocks that accept parameters and return computed data.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1152525" y="3179415"/>
            <a:ext cx="4657725" cy="2533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# Define a function with arguments origin &lt;- function(country = "Kenya") { paste("I am from", country) } # Return statement usage addition &lt;- function(x, y) { add &lt;- x + y return(add) } # Execution origin("Sweden") # Output: "I am from Sweden" addition(10, 5) # Output: 15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6800850" y="1762125"/>
            <a:ext cx="539115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Local Variables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6800850" y="2044005"/>
            <a:ext cx="46386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Variables created inside a function are isolated. They cannot be used outside that function.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6800850" y="4314825"/>
            <a:ext cx="539115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Global Variables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6800850" y="4596705"/>
            <a:ext cx="4638675" cy="471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Created outside functions, or explicitly assigned globally using the operator.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6800850" y="4820542"/>
            <a:ext cx="60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&lt;&lt;-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/>
          <p:nvPr/>
        </p:nvSpPr>
        <p:spPr>
          <a:xfrm>
            <a:off x="609600" y="1524000"/>
            <a:ext cx="3505200" cy="4876800"/>
          </a:xfrm>
          <a:prstGeom prst="roundRect">
            <a:avLst>
              <a:gd fmla="val 43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4343400" y="1524000"/>
            <a:ext cx="3505200" cy="4876800"/>
          </a:xfrm>
          <a:prstGeom prst="roundRect">
            <a:avLst>
              <a:gd fmla="val 43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8077200" y="1524000"/>
            <a:ext cx="3505200" cy="4876800"/>
          </a:xfrm>
          <a:prstGeom prst="roundRect">
            <a:avLst>
              <a:gd fmla="val 43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6" name="Google Shape;2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8383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0" y="183832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58350" y="1838325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INTERACTIVE SCRIPTS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609600" y="762000"/>
            <a:ext cx="1158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Output &amp; Strings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474464" y="2295525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print() &amp; cat()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564356" y="2638425"/>
            <a:ext cx="359568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Display values and variables to the standard output console.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4208264" y="2295525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paste() &amp; nchar()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4298156" y="2638425"/>
            <a:ext cx="359568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Concatenate strings together, or calculate total string character length.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7942064" y="2295525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readline()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8031956" y="2638425"/>
            <a:ext cx="359568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Capture live keyboard input from users directly in the console.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/>
          <p:nvPr/>
        </p:nvSpPr>
        <p:spPr>
          <a:xfrm>
            <a:off x="4191000" y="3944242"/>
            <a:ext cx="3810000" cy="1895475"/>
          </a:xfrm>
          <a:prstGeom prst="roundRect">
            <a:avLst>
              <a:gd fmla="val 8040" name="adj"/>
            </a:avLst>
          </a:prstGeom>
          <a:solidFill>
            <a:srgbClr val="1B2335"/>
          </a:solidFill>
          <a:ln cap="flat" cmpd="sng" w="9525">
            <a:solidFill>
              <a:srgbClr val="272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2" name="Google Shape;28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1018282"/>
            <a:ext cx="762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3037" y="4715767"/>
            <a:ext cx="2286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2050" y="5030092"/>
            <a:ext cx="2286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71062" y="5344417"/>
            <a:ext cx="2286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 txBox="1"/>
          <p:nvPr/>
        </p:nvSpPr>
        <p:spPr>
          <a:xfrm>
            <a:off x="3289399" y="1932682"/>
            <a:ext cx="5613201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Time to Practice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2524125" y="2801242"/>
            <a:ext cx="7143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Open your R console and start experimenting with the provided script syntax.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4107656" y="4258567"/>
            <a:ext cx="39766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Contact Details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4107656" y="4696717"/>
            <a:ext cx="39766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+254 115 249 130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4107656" y="5011042"/>
            <a:ext cx="39766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leviskitonge@gmail.com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4107606" y="5325367"/>
            <a:ext cx="3976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https://www.linkedin.com/in/levis-kitonge/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104900"/>
            <a:ext cx="148232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477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3"/>
          <p:cNvSpPr txBox="1"/>
          <p:nvPr/>
        </p:nvSpPr>
        <p:spPr>
          <a:xfrm>
            <a:off x="571500" y="571500"/>
            <a:ext cx="36754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1666875" y="1254918"/>
            <a:ext cx="6024562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https://docs.posit.co/ide/user/ide/get-started/images/rstudio-panes-labeled.jpeg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1666875" y="1488281"/>
            <a:ext cx="19764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docs.posit.co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