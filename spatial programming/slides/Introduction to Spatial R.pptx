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</ns0:sldIdLst>
  <ns0:sldSz cx="12192000" cy="6858000" type="screen4x3"/>
  <ns0:notesSz cx="6858000" cy="9144000"/>
  <ns0:embeddedFontLst>
    <ns0:embeddedFont>
      <ns0:font typeface="Fira Code"/>
      <ns0:bold ns1:id="rIdFont15"/>
      <ns0:italic ns1:id="rIdFont16"/>
      <ns0:regular ns1:id="rIdFont17"/>
    </ns0:embeddedFont>
    <ns0:embeddedFont>
      <ns0:font typeface="Inter"/>
      <ns0:bold ns1:id="rIdFont18"/>
      <ns0:regular ns1:id="rIdFont19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Font15" Type="http://schemas.openxmlformats.org/officeDocument/2006/relationships/font" Target="fonts/da3729c1-1083-4428-98c1-72ce700601da.fntdata" /><ns0:Relationship Id="rIdFont16" Type="http://schemas.openxmlformats.org/officeDocument/2006/relationships/font" Target="fonts/b80a5fe5-4d98-4735-93e9-13ea748447f2.fntdata" /><ns0:Relationship Id="rIdFont17" Type="http://schemas.openxmlformats.org/officeDocument/2006/relationships/font" Target="fonts/dde27663-e242-4ce7-a212-4f373f828753.fntdata" /><ns0:Relationship Id="rIdFont18" Type="http://schemas.openxmlformats.org/officeDocument/2006/relationships/font" Target="fonts/d65ba168-137e-4ad6-87c1-e28c15254c82.fntdata" /><ns0:Relationship Id="rIdFont19" Type="http://schemas.openxmlformats.org/officeDocument/2006/relationships/font" Target="fonts/5e158955-d50f-4357-96f9-d7f8a8dd1fcc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5201394"/>
            <a:ext cx="6096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0" y="0"/>
            <a:ext cx="5334000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1618505"/>
            <a:ext cx="6667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Inter"/>
              </a:rPr>
              <a:t>GESA-UON CURRICULUM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047130"/>
            <a:ext cx="5700712" cy="1508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b="1" sz="5400" i="0" u="none">
                <a:solidFill>
                  <a:srgbClr val="F8FAFC"/>
                </a:solidFill>
                <a:latin typeface="Inter"/>
              </a:rPr>
              <a:t>Introduction to </a:t>
            </a:r>
            <a:r>
              <a:t>
</a:t>
            </a:r>
            <a:r>
              <a:rPr b="1" sz="5400" i="0" u="none">
                <a:solidFill>
                  <a:srgbClr val="38BDF8"/>
                </a:solidFill>
                <a:latin typeface="Inter"/>
              </a:rPr>
              <a:t>Spatial 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860452"/>
            <a:ext cx="4667250" cy="959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94A3B8"/>
                </a:solidFill>
                <a:latin typeface="Inter"/>
              </a:rPr>
              <a:t>Geospatial analysis, reproducible workflows, and programmatic cartography.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1430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WHY R FOR SPATIAL?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1725" y="2400300"/>
            <a:ext cx="8388548" cy="152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b="1" sz="12000" i="0" u="none">
                <a:solidFill>
                  <a:srgbClr val="0F172A"/>
                </a:solidFill>
                <a:latin typeface="Inter"/>
              </a:rPr>
              <a:t>10,000</a:t>
            </a:r>
            <a:r>
              <a:rPr b="1" sz="12000" i="0" u="none">
                <a:solidFill>
                  <a:srgbClr val="0F172A"/>
                </a:solidFill>
                <a:latin typeface="Inter"/>
              </a:rPr>
              <a:t>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8812" y="4152900"/>
            <a:ext cx="8334375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475569"/>
                </a:solidFill>
                <a:latin typeface="Inter"/>
              </a:rPr>
              <a:t>Packages available on CRAN, creating a massive, open-source geospatial ecosystem.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831901"/>
            <a:ext cx="3352800" cy="2270521"/>
          </a:xfrm>
          <a:prstGeom prst="roundRect">
            <a:avLst>
              <a:gd name="adj" fmla="val 671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19600" y="2831901"/>
            <a:ext cx="3352800" cy="2270521"/>
          </a:xfrm>
          <a:prstGeom prst="roundRect">
            <a:avLst>
              <a:gd name="adj" fmla="val 671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831901"/>
            <a:ext cx="3352800" cy="2270521"/>
          </a:xfrm>
          <a:prstGeom prst="roundRect">
            <a:avLst>
              <a:gd name="adj" fmla="val 671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2831901"/>
            <a:ext cx="33528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19600" y="2831901"/>
            <a:ext cx="33528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77200" y="2831901"/>
            <a:ext cx="33528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251001"/>
            <a:ext cx="2667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251001"/>
            <a:ext cx="2667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3251001"/>
            <a:ext cx="342900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762000"/>
            <a:ext cx="114300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Inter"/>
              </a:rPr>
              <a:t>The Spatial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784401"/>
            <a:ext cx="340042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Fira Code"/>
              </a:rPr>
              <a:t>sf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241601"/>
            <a:ext cx="26860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Modern vector data handling and geoprocessing.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3784401"/>
            <a:ext cx="340042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Fira Code"/>
              </a:rPr>
              <a:t>terra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4241601"/>
            <a:ext cx="26860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High-performance continuous raster processing.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784401"/>
            <a:ext cx="340042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Fira Code"/>
              </a:rPr>
              <a:t>ggplot2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4241601"/>
            <a:ext cx="26860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Publication-ready cartographic visualization.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86475" y="2538412"/>
            <a:ext cx="19050" cy="28575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3676650"/>
            <a:ext cx="28575" cy="2476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4114800"/>
            <a:ext cx="28575" cy="2476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4552950"/>
            <a:ext cx="28575" cy="2762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15125" y="3676650"/>
            <a:ext cx="28575" cy="2476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15125" y="4114800"/>
            <a:ext cx="28575" cy="2476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15125" y="4552950"/>
            <a:ext cx="28575" cy="2762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914650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125" y="2914650"/>
            <a:ext cx="45720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75" y="3048000"/>
            <a:ext cx="17145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3048000"/>
            <a:ext cx="171450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2000" y="762000"/>
            <a:ext cx="114300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Inter"/>
              </a:rPr>
              <a:t>Spatial Data Types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57512"/>
            <a:ext cx="232529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Vector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600" y="3676650"/>
            <a:ext cx="566499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475569"/>
                </a:solidFill>
                <a:latin typeface="Inter"/>
              </a:rPr>
              <a:t>Geometry: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 Points, lines, and polygons.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600" y="4114800"/>
            <a:ext cx="566499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475569"/>
                </a:solidFill>
                <a:latin typeface="Inter"/>
              </a:rPr>
              <a:t>Structure: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 Stored as data frames.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600" y="4552950"/>
            <a:ext cx="5664993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475569"/>
                </a:solidFill>
                <a:latin typeface="Inter"/>
              </a:rPr>
              <a:t>Primary package:</a:t>
            </a:r>
            <a:r>
              <a:rPr b="1" sz="1650" i="0" u="none">
                <a:solidFill>
                  <a:srgbClr val="475569"/>
                </a:solidFill>
                <a:latin typeface="Inter"/>
              </a:rPr>
              <a:t> </a:t>
            </a:r>
            <a:r>
              <a:rPr b="1" sz="1650" i="0" u="none">
                <a:solidFill>
                  <a:srgbClr val="0F172A"/>
                </a:solidFill>
                <a:latin typeface="Inter"/>
              </a:rPr>
              <a:t>sf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24725" y="2957512"/>
            <a:ext cx="2287785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Raster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3725" y="3676650"/>
            <a:ext cx="52482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475569"/>
                </a:solidFill>
                <a:latin typeface="Inter"/>
              </a:rPr>
              <a:t>Geometry: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 Continuous pixel grids.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3725" y="4114800"/>
            <a:ext cx="52482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475569"/>
                </a:solidFill>
                <a:latin typeface="Inter"/>
              </a:rPr>
              <a:t>Use cases: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 Elevation, satellite imagery.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3725" y="4552950"/>
            <a:ext cx="52482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475569"/>
                </a:solidFill>
                <a:latin typeface="Inter"/>
              </a:rPr>
              <a:t>Primary package:</a:t>
            </a:r>
            <a:r>
              <a:rPr b="1" sz="1650" i="0" u="none">
                <a:solidFill>
                  <a:srgbClr val="475569"/>
                </a:solidFill>
                <a:latin typeface="Inter"/>
              </a:rPr>
              <a:t> </a:t>
            </a:r>
            <a:r>
              <a:rPr b="1" sz="1650" i="0" u="none">
                <a:solidFill>
                  <a:srgbClr val="0F172A"/>
                </a:solidFill>
                <a:latin typeface="Inter"/>
              </a:rPr>
              <a:t>terra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11117" y="2709862"/>
            <a:ext cx="5818882" cy="2895600"/>
          </a:xfrm>
          <a:prstGeom prst="roundRect">
            <a:avLst>
              <a:gd name="adj" fmla="val 394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11117" y="1252537"/>
            <a:ext cx="6580882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Inter"/>
              </a:rPr>
              <a:t>Reading Spatial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11117" y="1871662"/>
            <a:ext cx="59141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Load shapefiles and verify coordinate reference systems (CRS) easily.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15917" y="3014662"/>
            <a:ext cx="5304532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1" u="none">
                <a:solidFill>
                  <a:srgbClr val="7F848E"/>
                </a:solidFill>
                <a:latin typeface="Fira Code"/>
              </a:rPr>
              <a:t># Load the simple features package</a:t>
            </a:r>
            <a:r>
              <a:t>
</a:t>
            </a:r>
            <a:r>
              <a:rPr b="0" sz="1500" i="0" u="none">
                <a:solidFill>
                  <a:srgbClr val="61AFEF"/>
                </a:solidFill>
                <a:latin typeface="Fira Code"/>
              </a:rPr>
              <a:t>library</a:t>
            </a:r>
            <a:r>
              <a:rPr b="0" sz="1500" i="0" u="none">
                <a:solidFill>
                  <a:srgbClr val="E2E8F0"/>
                </a:solidFill>
                <a:latin typeface="Fira Code"/>
              </a:rPr>
              <a:t>(</a:t>
            </a:r>
            <a:r>
              <a:rPr b="0" sz="1500" i="0" u="none">
                <a:solidFill>
                  <a:srgbClr val="98C379"/>
                </a:solidFill>
                <a:latin typeface="Fira Code"/>
              </a:rPr>
              <a:t>sf</a:t>
            </a:r>
            <a:r>
              <a:rPr b="0" sz="1500" i="0" u="none">
                <a:solidFill>
                  <a:srgbClr val="E2E8F0"/>
                </a:solidFill>
                <a:latin typeface="Fira Code"/>
              </a:rPr>
              <a:t>)</a:t>
            </a:r>
            <a:r>
              <a:t>
</a:t>
            </a:r>
            <a:r>
              <a:t>
</a:t>
            </a:r>
            <a:r>
              <a:rPr b="0" sz="1500" i="1" u="none">
                <a:solidFill>
                  <a:srgbClr val="7F848E"/>
                </a:solidFill>
                <a:latin typeface="Fira Code"/>
              </a:rPr>
              <a:t># Read a local shapefile</a:t>
            </a:r>
            <a:r>
              <a:t>
</a:t>
            </a:r>
            <a:r>
              <a:rPr b="0" sz="1500" i="0" u="none">
                <a:solidFill>
                  <a:srgbClr val="E2E8F0"/>
                </a:solidFill>
                <a:latin typeface="Fira Code"/>
              </a:rPr>
              <a:t> nairobi_wards &lt;- </a:t>
            </a:r>
            <a:r>
              <a:rPr b="0" sz="1500" i="0" u="none">
                <a:solidFill>
                  <a:srgbClr val="61AFEF"/>
                </a:solidFill>
                <a:latin typeface="Fira Code"/>
              </a:rPr>
              <a:t>st_read</a:t>
            </a:r>
            <a:r>
              <a:rPr b="0" sz="1500" i="0" u="none">
                <a:solidFill>
                  <a:srgbClr val="E2E8F0"/>
                </a:solidFill>
                <a:latin typeface="Fira Code"/>
              </a:rPr>
              <a:t>(</a:t>
            </a:r>
            <a:r>
              <a:rPr b="0" sz="1500" i="0" u="none">
                <a:solidFill>
                  <a:srgbClr val="98C379"/>
                </a:solidFill>
                <a:latin typeface="Fira Code"/>
              </a:rPr>
              <a:t>"data/wards.shp"</a:t>
            </a:r>
            <a:r>
              <a:rPr b="0" sz="1500" i="0" u="none">
                <a:solidFill>
                  <a:srgbClr val="E2E8F0"/>
                </a:solidFill>
                <a:latin typeface="Fira Code"/>
              </a:rPr>
              <a:t>)</a:t>
            </a:r>
            <a:r>
              <a:t>
</a:t>
            </a:r>
            <a:r>
              <a:t>
</a:t>
            </a:r>
            <a:r>
              <a:rPr b="0" sz="1500" i="1" u="none">
                <a:solidFill>
                  <a:srgbClr val="7F848E"/>
                </a:solidFill>
                <a:latin typeface="Fira Code"/>
              </a:rPr>
              <a:t># Check the projection</a:t>
            </a:r>
            <a:r>
              <a:t>
</a:t>
            </a:r>
            <a:r>
              <a:rPr b="0" sz="1500" i="0" u="none">
                <a:solidFill>
                  <a:srgbClr val="61AFEF"/>
                </a:solidFill>
                <a:latin typeface="Fira Code"/>
              </a:rPr>
              <a:t>st_crs</a:t>
            </a:r>
            <a:r>
              <a:rPr b="0" sz="1500" i="0" u="none">
                <a:solidFill>
                  <a:srgbClr val="E2E8F0"/>
                </a:solidFill>
                <a:latin typeface="Fira Code"/>
              </a:rPr>
              <a:t>(nairobi_wards)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0" y="3024187"/>
            <a:ext cx="1619250" cy="266700"/>
          </a:xfrm>
          <a:prstGeom prst="roundRect">
            <a:avLst>
              <a:gd name="adj" fmla="val 14285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0" y="4014787"/>
            <a:ext cx="1304925" cy="266700"/>
          </a:xfrm>
          <a:prstGeom prst="roundRect">
            <a:avLst>
              <a:gd name="adj" fmla="val 14285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0" y="5005387"/>
            <a:ext cx="1933575" cy="266700"/>
          </a:xfrm>
          <a:prstGeom prst="roundRect">
            <a:avLst>
              <a:gd name="adj" fmla="val 14285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671762"/>
            <a:ext cx="609600" cy="609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3662362"/>
            <a:ext cx="609600" cy="609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4652962"/>
            <a:ext cx="609600" cy="609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6500" y="2862262"/>
            <a:ext cx="2286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6500" y="3852862"/>
            <a:ext cx="2286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6500" y="4843462"/>
            <a:ext cx="22860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762000"/>
            <a:ext cx="114300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Inter"/>
              </a:rPr>
              <a:t>Standard Geoprocessing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681287"/>
            <a:ext cx="5438179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Reprojection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033712"/>
            <a:ext cx="517921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aligns different data layers.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671887"/>
            <a:ext cx="4750593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Buffering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024312"/>
            <a:ext cx="45243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creates proximity zones.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662487"/>
            <a:ext cx="62007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Intersections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5014912"/>
            <a:ext cx="59055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extracts overlapping features.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76600" y="3043237"/>
            <a:ext cx="1562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Fira Code"/>
              </a:rPr>
              <a:t>st_transform()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76600" y="4033837"/>
            <a:ext cx="1247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Fira Code"/>
              </a:rPr>
              <a:t>st_buffer()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76600" y="5024437"/>
            <a:ext cx="18764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Fira Code"/>
              </a:rPr>
              <a:t>st_intersection()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157537"/>
            <a:ext cx="5818882" cy="1466850"/>
          </a:xfrm>
          <a:prstGeom prst="roundRect">
            <a:avLst>
              <a:gd name="adj" fmla="val 779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928812"/>
            <a:ext cx="7637282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Inter"/>
              </a:rPr>
              <a:t>Mapping with ggplot2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547937"/>
            <a:ext cx="727360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Grammar of graphics applied to spatial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" y="3462337"/>
            <a:ext cx="5304532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61AFEF"/>
                </a:solidFill>
                <a:latin typeface="Fira Code"/>
              </a:rPr>
              <a:t>ggplot</a:t>
            </a:r>
            <a:r>
              <a:rPr b="0" sz="1500" i="0" u="none">
                <a:solidFill>
                  <a:srgbClr val="E2E8F0"/>
                </a:solidFill>
                <a:latin typeface="Fira Code"/>
              </a:rPr>
              <a:t>(data = nairobi_wards) +</a:t>
            </a:r>
            <a:r>
              <a:t>
</a:t>
            </a:r>
            <a:r>
              <a:rPr b="0" sz="1500" i="0" u="none">
                <a:solidFill>
                  <a:srgbClr val="E2E8F0"/>
                </a:solidFill>
                <a:latin typeface="Fira Code"/>
              </a:rPr>
              <a:t>   </a:t>
            </a:r>
            <a:r>
              <a:rPr b="0" sz="1500" i="0" u="none">
                <a:solidFill>
                  <a:srgbClr val="61AFEF"/>
                </a:solidFill>
                <a:latin typeface="Fira Code"/>
              </a:rPr>
              <a:t>geom_sf</a:t>
            </a:r>
            <a:r>
              <a:rPr b="0" sz="1500" i="0" u="none">
                <a:solidFill>
                  <a:srgbClr val="E2E8F0"/>
                </a:solidFill>
                <a:latin typeface="Fira Code"/>
              </a:rPr>
              <a:t>(fill = </a:t>
            </a:r>
            <a:r>
              <a:rPr b="0" sz="1500" i="0" u="none">
                <a:solidFill>
                  <a:srgbClr val="98C379"/>
                </a:solidFill>
                <a:latin typeface="Fira Code"/>
              </a:rPr>
              <a:t>"steelblue"</a:t>
            </a:r>
            <a:r>
              <a:rPr b="0" sz="1500" i="0" u="none">
                <a:solidFill>
                  <a:srgbClr val="E2E8F0"/>
                </a:solidFill>
                <a:latin typeface="Fira Code"/>
              </a:rPr>
              <a:t>) +</a:t>
            </a:r>
            <a:r>
              <a:t>
</a:t>
            </a:r>
            <a:r>
              <a:rPr b="0" sz="1500" i="0" u="none">
                <a:solidFill>
                  <a:srgbClr val="E2E8F0"/>
                </a:solidFill>
                <a:latin typeface="Fira Code"/>
              </a:rPr>
              <a:t>   </a:t>
            </a:r>
            <a:r>
              <a:rPr b="0" sz="1500" i="0" u="none">
                <a:solidFill>
                  <a:srgbClr val="61AFEF"/>
                </a:solidFill>
                <a:latin typeface="Fira Code"/>
              </a:rPr>
              <a:t>theme_minimal</a:t>
            </a:r>
            <a:r>
              <a:rPr b="0" sz="1500" i="0" u="none">
                <a:solidFill>
                  <a:srgbClr val="E2E8F0"/>
                </a:solidFill>
                <a:latin typeface="Fira Code"/>
              </a:rPr>
              <a:t>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00300" y="4119562"/>
            <a:ext cx="7391400" cy="590550"/>
          </a:xfrm>
          <a:prstGeom prst="roundRect">
            <a:avLst>
              <a:gd name="adj" fmla="val 12903"/>
            </a:avLst>
          </a:prstGeom>
          <a:noFill/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76885" y="2147887"/>
            <a:ext cx="5838229" cy="733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F8FAFC"/>
                </a:solidFill>
                <a:latin typeface="Inter"/>
              </a:rPr>
              <a:t>Ready to Map?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3109912"/>
            <a:ext cx="7143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94A3B8"/>
                </a:solidFill>
                <a:latin typeface="Inter"/>
              </a:rPr>
              <a:t>Clone the GESA-UON repository, install the packages, and run the foundation scripts.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1175" y="4271962"/>
            <a:ext cx="86296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38BDF8"/>
                </a:solidFill>
                <a:latin typeface="Fira Code"/>
              </a:rPr>
              <a:t>git clone https://github.com/GESA-UON/R-spatial_programming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